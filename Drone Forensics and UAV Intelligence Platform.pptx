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Orbitron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rbitron-bold.fntdata"/><Relationship Id="rId25" Type="http://schemas.openxmlformats.org/officeDocument/2006/relationships/font" Target="fonts/Orbitron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regular.fntdata"/><Relationship Id="rId16" Type="http://schemas.openxmlformats.org/officeDocument/2006/relationships/slide" Target="slides/slide11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6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5" Type="http://schemas.openxmlformats.org/officeDocument/2006/relationships/image" Target="../media/image15.png"/><Relationship Id="rId14" Type="http://schemas.openxmlformats.org/officeDocument/2006/relationships/image" Target="../media/image17.png"/><Relationship Id="rId16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19.png"/><Relationship Id="rId13" Type="http://schemas.openxmlformats.org/officeDocument/2006/relationships/image" Target="../media/image26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20.png"/><Relationship Id="rId1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41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45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47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Relationship Id="rId7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40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46.png"/><Relationship Id="rId5" Type="http://schemas.openxmlformats.org/officeDocument/2006/relationships/image" Target="../media/image28.png"/><Relationship Id="rId6" Type="http://schemas.openxmlformats.org/officeDocument/2006/relationships/image" Target="../media/image37.png"/><Relationship Id="rId7" Type="http://schemas.openxmlformats.org/officeDocument/2006/relationships/image" Target="../media/image35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3.png"/><Relationship Id="rId5" Type="http://schemas.openxmlformats.org/officeDocument/2006/relationships/image" Target="../media/image7.png"/><Relationship Id="rId6" Type="http://schemas.openxmlformats.org/officeDocument/2006/relationships/image" Target="../media/image39.png"/><Relationship Id="rId7" Type="http://schemas.openxmlformats.org/officeDocument/2006/relationships/image" Target="../media/image42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956138" y="497246"/>
            <a:ext cx="4193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00F5D4"/>
                </a:solidFill>
                <a:latin typeface="Orbitron"/>
                <a:ea typeface="Orbitron"/>
                <a:cs typeface="Orbitron"/>
                <a:sym typeface="Orbitron"/>
              </a:rPr>
              <a:t>FORENSICS &amp; DEFENSE INTELLIGENCE</a:t>
            </a:r>
            <a:endParaRPr sz="1800"/>
          </a:p>
        </p:txBody>
      </p:sp>
      <p:sp>
        <p:nvSpPr>
          <p:cNvPr id="85" name="Google Shape;85;p13"/>
          <p:cNvSpPr txBox="1"/>
          <p:nvPr/>
        </p:nvSpPr>
        <p:spPr>
          <a:xfrm>
            <a:off x="1595450" y="845762"/>
            <a:ext cx="900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494166" y="5825077"/>
            <a:ext cx="810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Abhijot Singh (2203391)</a:t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9055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04900" y="1362075"/>
            <a:ext cx="48406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The UAV Intelligence Gap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19150" y="1714500"/>
            <a:ext cx="489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Current defense and commercial UAV assessment workflows suffer from fragmentation and manual overhead: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24840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762750" y="1362075"/>
            <a:ext cx="48406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Tactical Platform Objectives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477000" y="1714500"/>
            <a:ext cx="489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Architecting an integrated AI-driven pipeline to automate drone hardware analysis and forensics: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3858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85850" y="2362200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UAV component details are scattered across disparate manufacturer sites.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85850" y="2933700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Critical component compatibility relies on highly error-prone manual verification.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85850" y="3505200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Absence of an integrated, highly centralized UAV digital intelligence repository.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85850" y="4076700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 severe lack of AI-driven tools to assist investigators with real-time drone analysis.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13858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743700" y="23622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Establish a fully centralized UAV intelligence &amp; hardware repository.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743700" y="27051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Implement a specialized automated hardware compatibility engine.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43700" y="30480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Deploy predictive ML models for dynamic drone configuration.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43700" y="33909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Integrate advanced computer vision for UAV model identification.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43700" y="37338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Deploy a robust, locally hosted AI analyst assistant (Ollama / Phi-3).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OBJECTIVES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381250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952750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524250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095750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23812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27241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30670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34099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7000" y="3752850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23950"/>
            <a:ext cx="5372101" cy="5248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81925" y="2214562"/>
            <a:ext cx="22860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81925" y="3071812"/>
            <a:ext cx="22860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81925" y="3929062"/>
            <a:ext cx="22860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8900" y="4576762"/>
            <a:ext cx="1593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27950" y="4576762"/>
            <a:ext cx="1593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17000" y="4576762"/>
            <a:ext cx="1593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38900" y="4976812"/>
            <a:ext cx="1593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17000" y="4976812"/>
            <a:ext cx="1593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/>
          <p:nvPr/>
        </p:nvSpPr>
        <p:spPr>
          <a:xfrm>
            <a:off x="59055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133475" y="1362075"/>
            <a:ext cx="4810601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Multi-Tier Technology Stack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089450" y="1714500"/>
            <a:ext cx="4628100" cy="42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Drone Forensics and UAV Intelligence Platform follows a modular architecture integrating web technologies, database systems, machine learning, computer vision, and AI-powered assistance into a unified platform.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F5D4"/>
                </a:solidFill>
                <a:latin typeface="Montserrat"/>
                <a:ea typeface="Montserrat"/>
                <a:cs typeface="Montserrat"/>
                <a:sym typeface="Montserrat"/>
              </a:rPr>
              <a:t>Frontend Layer</a:t>
            </a:r>
            <a:endParaRPr b="1" sz="1100">
              <a:solidFill>
                <a:srgbClr val="00F5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Built using </a:t>
            </a: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React.js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to provide responsive user interfaces for UAV intelligence management, compatibility validation, recommendations, image recognition, and AI interactions.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F5D4"/>
                </a:solidFill>
                <a:latin typeface="Montserrat"/>
                <a:ea typeface="Montserrat"/>
                <a:cs typeface="Montserrat"/>
                <a:sym typeface="Montserrat"/>
              </a:rPr>
              <a:t>Backend Layer</a:t>
            </a:r>
            <a:endParaRPr b="1" sz="1100">
              <a:solidFill>
                <a:srgbClr val="00F5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Developed using </a:t>
            </a: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Node.js and Express.js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to handle REST APIs, data processing, and communication between application modules.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0F5D4"/>
                </a:solidFill>
                <a:latin typeface="Montserrat"/>
                <a:ea typeface="Montserrat"/>
                <a:cs typeface="Montserrat"/>
                <a:sym typeface="Montserrat"/>
              </a:rPr>
              <a:t>Database Layer</a:t>
            </a:r>
            <a:endParaRPr b="1" sz="1100">
              <a:solidFill>
                <a:srgbClr val="00F5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Implemented using </a:t>
            </a: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MySQL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with 40+ relational tables for UAV manufacturers, platforms, variants, components, compatibility datasets, and user management.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19150" y="13858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872537" y="2786062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872537" y="3643312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9150" y="2671750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9150" y="3776650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19150" y="4691075"/>
            <a:ext cx="762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-808350" y="1575475"/>
            <a:ext cx="638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23950"/>
            <a:ext cx="5372101" cy="5248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314575"/>
            <a:ext cx="15557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89150" y="2314575"/>
            <a:ext cx="15557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59150" y="2314575"/>
            <a:ext cx="15557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2781300"/>
            <a:ext cx="15557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89150" y="2781300"/>
            <a:ext cx="15557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59150" y="2781300"/>
            <a:ext cx="15557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/>
          <p:nvPr/>
        </p:nvSpPr>
        <p:spPr>
          <a:xfrm>
            <a:off x="59055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085850" y="1362075"/>
            <a:ext cx="48606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40+ Relational Database Tables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19150" y="1714500"/>
            <a:ext cx="489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Designed a highly normalized database schema mapping the entire ecosystem of micro-UAV physical components: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19000" y="5674650"/>
            <a:ext cx="4896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Additionally,</a:t>
            </a:r>
            <a:r>
              <a:rPr b="0" i="1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aggregates component blueprints from active Indian and foreign UAV manufacturers and hardware standardizations.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624840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810375" y="1362075"/>
            <a:ext cx="47905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CSV Pipeline Workflow</a:t>
            </a:r>
            <a:endParaRPr/>
          </a:p>
        </p:txBody>
      </p:sp>
      <p:pic>
        <p:nvPicPr>
          <p:cNvPr descr="image.png" id="169" name="Google Shape;16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9150" y="13858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77000" y="13858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DATABASE &amp; DATA COLLECTION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59706" y="3817844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59706" y="5420285"/>
            <a:ext cx="762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6703919" y="1745876"/>
            <a:ext cx="4650600" cy="39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 scalable ingestion framework developed to automate population of UAV intelligence and component datasets from multiple sources.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Pipeline Features:</a:t>
            </a:r>
            <a:endParaRPr b="1"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Bulk CSV Import: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Supports thousands of records per upload.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Staging Tables: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Temporary validation layer before database insertion.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Data Cleaning: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Removes duplicates and standardizes specifications.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Validation Rules: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Checks missing values, data types, and relationships.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Automated Mapping: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Transfers validated records into production tables.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Error Logging: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Tracks invalid or rejected entries for review.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76" name="Google Shape;176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59706" y="3279962"/>
            <a:ext cx="762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819000" y="3427538"/>
            <a:ext cx="4896000" cy="19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Key</a:t>
            </a: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1"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UAV Manufacturers &amp; Platform Management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Component Inventory (Motors, ESCs, Batteries, Frames, Propellers, Flight Controllers, GPS, Cameras, VTX)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Compatibility Mapping Tables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Recommendation Training Dataset Storage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Firmware &amp; Software Repository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User &amp; Search Activity Management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78" name="Google Shape;178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32812" y="2726391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55224" y="4317626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50741" y="4873438"/>
            <a:ext cx="762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/>
          <p:nvPr/>
        </p:nvSpPr>
        <p:spPr>
          <a:xfrm>
            <a:off x="59055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1104900" y="1362075"/>
            <a:ext cx="48406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Advanced Validation Matrix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19150" y="1714500"/>
            <a:ext cx="48960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engine performs physical calculations mapping electrical and mechanical tolerances of proposed multirotors:</a:t>
            </a:r>
            <a:endParaRPr/>
          </a:p>
        </p:txBody>
      </p:sp>
      <p:pic>
        <p:nvPicPr>
          <p:cNvPr descr="image.png" id="191" name="Google Shape;19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3858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1085850" y="2314575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Motor ↔ ESC: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Evaluates peak current draw (Amps) against the speed controller's maximum sustained ratings.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1085850" y="2886075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Motor ↔ Propeller: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Calculates thrust output curve to guarantee the motor can safely spin the blade without overheating.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085850" y="3457575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Frame ↔ Propeller: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Uses physical geometry equations to confirm the propeller diameter will not hit the UAV arm.</a:t>
            </a:r>
            <a:endParaRPr/>
          </a:p>
        </p:txBody>
      </p:sp>
      <p:pic>
        <p:nvPicPr>
          <p:cNvPr descr="image.png" id="195" name="Google Shape;19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7525" y="5452981"/>
            <a:ext cx="12287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71825" y="5452971"/>
            <a:ext cx="14001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COMPATIBILITY VALIDATION ENGINE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2333625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2905125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3476625"/>
            <a:ext cx="762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723900" y="4043525"/>
            <a:ext cx="5049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Platform</a:t>
            </a: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Benefits:</a:t>
            </a:r>
            <a:endParaRPr b="1"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Reduces UAV build errors.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Saves component selection time.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Improves reliability of custom UAV configurations.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3" name="Google Shape;203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38875" y="1123950"/>
            <a:ext cx="5353050" cy="524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194922"/>
            <a:ext cx="4895850" cy="64383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/>
          <p:nvPr/>
        </p:nvSpPr>
        <p:spPr>
          <a:xfrm>
            <a:off x="59055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104900" y="1362075"/>
            <a:ext cx="48406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TensorFlow.js Powered Model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19150" y="1714500"/>
            <a:ext cx="4895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Leverages local, privacy-centric AI to predict the best companion components based on drone performance envelopes:</a:t>
            </a:r>
            <a:endParaRPr/>
          </a:p>
        </p:txBody>
      </p:sp>
      <p:pic>
        <p:nvPicPr>
          <p:cNvPr descr="image.png" id="215" name="Google Shape;21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13858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1085850" y="2314575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Feature Engineering: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Extracts weight-to-thrust ratio, battery C-ratings, and kv-ratings to train local models.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085850" y="2886075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Predictive Matching: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Dynamically recommends matching components when target component matches are out of stock.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085850" y="3457575"/>
            <a:ext cx="462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Deterministic Pipeline: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Combining neural nets with hardware rule boundaries for safe recommendations.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942975" y="4307541"/>
            <a:ext cx="46482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Workflow: User Input Selection ➔ ML Pipeline Engine ➔ Recommended Components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 RECOMMENDATION ENGINE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333625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905125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476625"/>
            <a:ext cx="762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991646" y="5051612"/>
            <a:ext cx="48198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Benefits</a:t>
            </a:r>
            <a:r>
              <a:rPr b="1" lang="en-US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:</a:t>
            </a:r>
            <a:endParaRPr b="1">
              <a:solidFill>
                <a:srgbClr val="38BDF8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✔ Faster Component Selection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✔ Intelligent UAV Build Assistance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✔ Reduced Manual Analysis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✔ Improved Configuration Accuracy </a:t>
            </a:r>
            <a:endParaRPr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6" name="Google Shape;226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38875" y="1123950"/>
            <a:ext cx="5353049" cy="5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123950"/>
            <a:ext cx="5372101" cy="524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/>
          <p:nvPr/>
        </p:nvSpPr>
        <p:spPr>
          <a:xfrm>
            <a:off x="624840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6791325" y="1362075"/>
            <a:ext cx="4810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Intelligent Vision &amp; OCR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6548725" y="5386125"/>
            <a:ext cx="48960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F5D4"/>
                </a:solidFill>
                <a:latin typeface="Orbitron"/>
                <a:ea typeface="Orbitron"/>
                <a:cs typeface="Orbitron"/>
                <a:sym typeface="Orbitron"/>
              </a:rPr>
              <a:t>Flow: Upload Image ➔ Preprocessing ➔ OCR Extraction ➔ </a:t>
            </a:r>
            <a:r>
              <a:rPr lang="en-US" sz="975">
                <a:solidFill>
                  <a:srgbClr val="00F5D4"/>
                </a:solidFill>
                <a:latin typeface="Orbitron"/>
                <a:ea typeface="Orbitron"/>
                <a:cs typeface="Orbitron"/>
                <a:sym typeface="Orbitron"/>
              </a:rPr>
              <a:t>Information Retrieval</a:t>
            </a:r>
            <a:endParaRPr/>
          </a:p>
        </p:txBody>
      </p:sp>
      <p:pic>
        <p:nvPicPr>
          <p:cNvPr descr="image.png" id="236" name="Google Shape;23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13858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RECOGNITION MODULE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2905125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3431801"/>
            <a:ext cx="762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 txBox="1"/>
          <p:nvPr/>
        </p:nvSpPr>
        <p:spPr>
          <a:xfrm>
            <a:off x="6696075" y="1738000"/>
            <a:ext cx="4753200" cy="27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</a:rPr>
              <a:t>Built using OpenCV and EasyOCR to automatically extract information from UAV images and identify relevant drone components.</a:t>
            </a:r>
            <a:endParaRPr sz="1100">
              <a:solidFill>
                <a:srgbClr val="9CA3AF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175">
                <a:solidFill>
                  <a:srgbClr val="00F5D4"/>
                </a:solidFill>
                <a:latin typeface="Orbitron"/>
                <a:ea typeface="Orbitron"/>
                <a:cs typeface="Orbitron"/>
                <a:sym typeface="Orbitron"/>
              </a:rPr>
              <a:t>Key</a:t>
            </a:r>
            <a:r>
              <a:rPr b="1" lang="en-US" sz="1500">
                <a:solidFill>
                  <a:srgbClr val="9CA3AF"/>
                </a:solidFill>
              </a:rPr>
              <a:t> </a:t>
            </a:r>
            <a:r>
              <a:rPr b="1" lang="en-US" sz="1175">
                <a:solidFill>
                  <a:srgbClr val="00F5D4"/>
                </a:solidFill>
                <a:latin typeface="Orbitron"/>
                <a:ea typeface="Orbitron"/>
                <a:cs typeface="Orbitron"/>
                <a:sym typeface="Orbitron"/>
              </a:rPr>
              <a:t>Features:</a:t>
            </a:r>
            <a:endParaRPr b="1" sz="1500">
              <a:solidFill>
                <a:srgbClr val="9CA3A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</a:rPr>
              <a:t>Text Extraction:</a:t>
            </a:r>
            <a:r>
              <a:rPr lang="en-US" sz="1100">
                <a:solidFill>
                  <a:srgbClr val="9CA3AF"/>
                </a:solidFill>
              </a:rPr>
              <a:t> Extracts manufacturer names, model numbers, and component labels from uploaded images.</a:t>
            </a:r>
            <a:endParaRPr sz="1100">
              <a:solidFill>
                <a:srgbClr val="9CA3A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</a:rPr>
              <a:t>Image Preprocessing:</a:t>
            </a:r>
            <a:r>
              <a:rPr lang="en-US" sz="1100">
                <a:solidFill>
                  <a:srgbClr val="9CA3AF"/>
                </a:solidFill>
              </a:rPr>
              <a:t> Uses grayscale conversion, thresholding, resizing, and noise reduction to improve OCR accuracy.</a:t>
            </a:r>
            <a:endParaRPr sz="1100">
              <a:solidFill>
                <a:srgbClr val="9CA3A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rgbClr val="9CA3AF"/>
                </a:solidFill>
              </a:rPr>
              <a:t>Information Retrieval:</a:t>
            </a:r>
            <a:r>
              <a:rPr lang="en-US" sz="1100">
                <a:solidFill>
                  <a:srgbClr val="9CA3AF"/>
                </a:solidFill>
              </a:rPr>
              <a:t> Displays relevant UAV intelligence records based on recognized text.</a:t>
            </a:r>
            <a:endParaRPr sz="1100">
              <a:solidFill>
                <a:srgbClr val="9CA3AF"/>
              </a:solidFill>
            </a:endParaRPr>
          </a:p>
        </p:txBody>
      </p:sp>
      <p:pic>
        <p:nvPicPr>
          <p:cNvPr descr="image.png" id="242" name="Google Shape;24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2518" y="3976407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025" y="1123950"/>
            <a:ext cx="5353051" cy="5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3437" y="5486905"/>
            <a:ext cx="4895850" cy="55602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/>
          <p:nvPr/>
        </p:nvSpPr>
        <p:spPr>
          <a:xfrm>
            <a:off x="59055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152525" y="1362075"/>
            <a:ext cx="47905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On-Premises LLM Integration</a:t>
            </a:r>
            <a:endParaRPr/>
          </a:p>
        </p:txBody>
      </p:sp>
      <p:pic>
        <p:nvPicPr>
          <p:cNvPr descr="image.png" id="254" name="Google Shape;25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13858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990613" y="5582155"/>
            <a:ext cx="458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"How do I determine if a T-Motor F60 Pro IV is compatible with an APC 5x4.3x3 propeller?"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ASSISTANT MODULE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967054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893114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428583"/>
            <a:ext cx="762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1057275" y="1645447"/>
            <a:ext cx="4576800" cy="3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</a:rPr>
              <a:t>The AI Assistant module provides intelligent guidance and information retrieval support for UAV-related queries using a locally deployed language model.</a:t>
            </a:r>
            <a:endParaRPr sz="1100">
              <a:solidFill>
                <a:srgbClr val="9CA3A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F5D4"/>
                </a:solidFill>
                <a:latin typeface="Inter"/>
                <a:ea typeface="Inter"/>
                <a:cs typeface="Inter"/>
                <a:sym typeface="Inter"/>
              </a:rPr>
              <a:t>Key Features</a:t>
            </a:r>
            <a:endParaRPr b="1" sz="1300">
              <a:solidFill>
                <a:srgbClr val="00F5D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</a:rPr>
              <a:t>Ollama Integration:</a:t>
            </a:r>
            <a:r>
              <a:rPr lang="en-US" sz="1100">
                <a:solidFill>
                  <a:srgbClr val="9CA3AF"/>
                </a:solidFill>
              </a:rPr>
              <a:t> Enables local deployment and execution of AI models within the platform.</a:t>
            </a:r>
            <a:endParaRPr sz="1100">
              <a:solidFill>
                <a:srgbClr val="9CA3A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</a:rPr>
              <a:t>Phi-3 Language Model:</a:t>
            </a:r>
            <a:r>
              <a:rPr lang="en-US" sz="1100">
                <a:solidFill>
                  <a:srgbClr val="9CA3AF"/>
                </a:solidFill>
              </a:rPr>
              <a:t> Processes user queries and generates contextual responses.</a:t>
            </a:r>
            <a:endParaRPr sz="1100">
              <a:solidFill>
                <a:srgbClr val="9CA3A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</a:rPr>
              <a:t>Technical Guidance:</a:t>
            </a:r>
            <a:r>
              <a:rPr lang="en-US" sz="1100">
                <a:solidFill>
                  <a:srgbClr val="9CA3AF"/>
                </a:solidFill>
              </a:rPr>
              <a:t> Assists users with UAV components, specifications, compatibility, and troubleshooting queries.</a:t>
            </a:r>
            <a:endParaRPr sz="1100">
              <a:solidFill>
                <a:srgbClr val="9CA3A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9CA3AF"/>
                </a:solidFill>
              </a:rPr>
              <a:t>Knowledge Assistance:</a:t>
            </a:r>
            <a:r>
              <a:rPr lang="en-US" sz="1100">
                <a:solidFill>
                  <a:srgbClr val="9CA3AF"/>
                </a:solidFill>
              </a:rPr>
              <a:t> Supports information retrieval from the UAV intelligence ecosystem.</a:t>
            </a:r>
            <a:endParaRPr b="1" sz="1300">
              <a:solidFill>
                <a:srgbClr val="9CA3A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rgbClr val="00F5D4"/>
                </a:solidFill>
                <a:latin typeface="Orbitron"/>
                <a:ea typeface="Orbitron"/>
                <a:cs typeface="Orbitron"/>
                <a:sym typeface="Orbitron"/>
              </a:rPr>
              <a:t>Ollama • Phi-3 • React • Node.js • REST APIs</a:t>
            </a:r>
            <a:endParaRPr sz="1100">
              <a:solidFill>
                <a:srgbClr val="00F5D4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descr="image.png" id="262" name="Google Shape;26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7424" y="4491780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38874" y="1123950"/>
            <a:ext cx="5353050" cy="5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23950"/>
            <a:ext cx="5372101" cy="5248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23950"/>
            <a:ext cx="5372101" cy="5248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800475"/>
            <a:ext cx="4895850" cy="61138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/>
          <p:nvPr/>
        </p:nvSpPr>
        <p:spPr>
          <a:xfrm>
            <a:off x="59055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057275" y="1362075"/>
            <a:ext cx="4890611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Successfully Developed Systems</a:t>
            </a:r>
            <a:endParaRPr/>
          </a:p>
        </p:txBody>
      </p:sp>
      <p:pic>
        <p:nvPicPr>
          <p:cNvPr descr="image.png" id="274" name="Google Shape;27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1385887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1"/>
          <p:cNvSpPr txBox="1"/>
          <p:nvPr/>
        </p:nvSpPr>
        <p:spPr>
          <a:xfrm>
            <a:off x="1085850" y="17145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Complete UAV Intelligence Relational Database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085850" y="20574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Automated Multi-Source CSV Ingestion Engine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085850" y="24003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Electrical &amp; Mechanical Compatibility Validation Engine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085850" y="27432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TF.js Component Recommendation Model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1085850" y="30861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Robust OCR Serial Number Extraction Tool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1085850" y="3429000"/>
            <a:ext cx="4629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On-Premises AI Intelligence Chatbot Interface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819150" y="3952875"/>
            <a:ext cx="4895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Key Forensics Benefits: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819150" y="4213770"/>
            <a:ext cx="48960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00F5D4"/>
                </a:solidFill>
                <a:latin typeface="Orbitron"/>
                <a:ea typeface="Orbitron"/>
                <a:cs typeface="Orbitron"/>
                <a:sym typeface="Orbitron"/>
              </a:rPr>
              <a:t>➔ Faster Hardware Analysis • Reduced Manual Error • Data-Driven Intelligence</a:t>
            </a:r>
            <a:endParaRPr b="1" sz="1500">
              <a:solidFill>
                <a:srgbClr val="00F5D4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PLATFORM RESULTS &amp; IMPACT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7335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0764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4193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7622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1051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44805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38875" y="1123949"/>
            <a:ext cx="5353050" cy="364875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793407" y="4794652"/>
            <a:ext cx="4890600" cy="13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Platform</a:t>
            </a:r>
            <a:r>
              <a:rPr b="1" lang="en-US" sz="1100">
                <a:solidFill>
                  <a:srgbClr val="9CA3AF"/>
                </a:solidFill>
              </a:rPr>
              <a:t> </a:t>
            </a: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Achievements</a:t>
            </a:r>
            <a:endParaRPr b="1" sz="1100">
              <a:solidFill>
                <a:srgbClr val="9CA3A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F5D4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40+ Relational Database Tables Implemented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1,000+ UAV &amp; Component Records Managed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Automated Compatibility Verification Workflows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5D4"/>
              </a:buClr>
              <a:buSzPts val="1100"/>
              <a:buFont typeface="Inter"/>
              <a:buChar char="●"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Integrated AI, ML, OCR &amp; Database Ecosystem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93" name="Google Shape;29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350" y="4807522"/>
            <a:ext cx="5372101" cy="15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 txBox="1"/>
          <p:nvPr/>
        </p:nvSpPr>
        <p:spPr>
          <a:xfrm>
            <a:off x="6301875" y="5070950"/>
            <a:ext cx="5117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Successfully developed an end-to-end intelligent UAV analysis platform integrating Database Management, Compatibility Validation, Machine Learning, Computer Vision, and Generative AI technologies. </a:t>
            </a:r>
            <a:endParaRPr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/>
          <p:nvPr/>
        </p:nvSpPr>
        <p:spPr>
          <a:xfrm>
            <a:off x="558625" y="2386946"/>
            <a:ext cx="1103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Decision</a:t>
            </a:r>
            <a:r>
              <a:rPr b="1"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Support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558613" y="3147371"/>
            <a:ext cx="110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Security and Reliability </a:t>
            </a:r>
            <a:endParaRPr b="1" sz="1500">
              <a:solidFill>
                <a:srgbClr val="38BDF8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581025" y="375285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581025" y="453762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581025" y="21737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581025" y="217378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581025" y="295855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581025" y="295855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581025" y="37433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581025" y="37433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581025" y="45280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581025" y="452809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723900" y="485775"/>
            <a:ext cx="1143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SzPts val="1100"/>
              <a:buNone/>
            </a:pPr>
            <a:r>
              <a:rPr lang="en-US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DISCUSSION</a:t>
            </a:r>
            <a:endParaRPr b="1" sz="255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581025" y="13895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Unified Platform</a:t>
            </a:r>
            <a:r>
              <a:rPr lang="en-US" sz="11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endParaRPr>
              <a:solidFill>
                <a:srgbClr val="38BDF8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582388" y="1682715"/>
            <a:ext cx="1098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bringing together intelligence records, component data, forensic utilities, and AI support, the system removes the fragmentation common in existing UAV resources.</a:t>
            </a:r>
            <a:r>
              <a:rPr lang="en-U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558550" y="2614075"/>
            <a:ext cx="110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Compatibility checks and machine-learning recommendations turn the platform from passive storage into active guidance for safer, more informed build choices.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500"/>
          </a:p>
        </p:txBody>
      </p:sp>
      <p:sp>
        <p:nvSpPr>
          <p:cNvPr id="317" name="Google Shape;317;p22"/>
          <p:cNvSpPr txBox="1"/>
          <p:nvPr/>
        </p:nvSpPr>
        <p:spPr>
          <a:xfrm>
            <a:off x="537576" y="3390524"/>
            <a:ext cx="1156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Offline-</a:t>
            </a:r>
            <a:r>
              <a:rPr lang="en-U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first</a:t>
            </a:r>
            <a:r>
              <a:rPr lang="en-U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operation reduces exposure to external service dependency, which is especially valuable in controlled, sensitive, or disconnected environments.</a:t>
            </a:r>
            <a:r>
              <a:rPr lang="en-US" sz="1100">
                <a:solidFill>
                  <a:schemeClr val="lt1"/>
                </a:solidFill>
              </a:rPr>
              <a:t> 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558625" y="4151675"/>
            <a:ext cx="1161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modular structure plus CSV ingestion make future extension practical, allowing new datasets and models to be added with limited disruption.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500"/>
          </a:p>
        </p:txBody>
      </p:sp>
      <p:sp>
        <p:nvSpPr>
          <p:cNvPr id="319" name="Google Shape;319;p22"/>
          <p:cNvSpPr txBox="1"/>
          <p:nvPr/>
        </p:nvSpPr>
        <p:spPr>
          <a:xfrm>
            <a:off x="558613" y="390428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Scalable Maintainability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123950"/>
            <a:ext cx="5372100" cy="52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/>
          <p:nvPr/>
        </p:nvSpPr>
        <p:spPr>
          <a:xfrm>
            <a:off x="59055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 txBox="1"/>
          <p:nvPr/>
        </p:nvSpPr>
        <p:spPr>
          <a:xfrm>
            <a:off x="1152525" y="1362075"/>
            <a:ext cx="47905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Strategic Conclusion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819075" y="1682064"/>
            <a:ext cx="4896000" cy="48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Successfully developed a centralized </a:t>
            </a: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Drone Forensics and UAV Intelligence Platform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integrating UAV intelligence management, component compatibility validation, machine learning recommendations, image recognition, and AI-assisted guidance into a single web-based system.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The platform utilizes a structured MySQL database, CSV ingestion pipelines, TensorFlow.js recommendation models, OpenCV-EasyOCR image processing, and Ollama-powered AI assistance to improve UAV information retrieval and decision-making.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Key</a:t>
            </a:r>
            <a:r>
              <a:rPr b="1"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-US" sz="1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Outcomes</a:t>
            </a:r>
            <a:endParaRPr b="1"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F5D4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Centralized UAV Intelligence Repository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F5D4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Automated Compatibility Validation Engine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F5D4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Machine Learning Recommendation System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F5D4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OCR-Based UAV Identification Support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F5D4"/>
                </a:solidFill>
                <a:latin typeface="Inter"/>
                <a:ea typeface="Inter"/>
                <a:cs typeface="Inter"/>
                <a:sym typeface="Inter"/>
              </a:rPr>
              <a:t>✔</a:t>
            </a: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 AI-Powered Technical Assistance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6248400" y="3733800"/>
            <a:ext cx="5353050" cy="28575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 txBox="1"/>
          <p:nvPr/>
        </p:nvSpPr>
        <p:spPr>
          <a:xfrm>
            <a:off x="6762750" y="1362075"/>
            <a:ext cx="484060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Engineering Future Scope</a:t>
            </a:r>
            <a:endParaRPr/>
          </a:p>
        </p:txBody>
      </p:sp>
      <p:pic>
        <p:nvPicPr>
          <p:cNvPr descr="image.png" id="332" name="Google Shape;33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13858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13858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723900" y="485775"/>
            <a:ext cx="114314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SCOPE</a:t>
            </a:r>
            <a:endParaRPr/>
          </a:p>
        </p:txBody>
      </p:sp>
      <p:sp>
        <p:nvSpPr>
          <p:cNvPr id="335" name="Google Shape;335;p23"/>
          <p:cNvSpPr/>
          <p:nvPr/>
        </p:nvSpPr>
        <p:spPr>
          <a:xfrm>
            <a:off x="581025" y="485775"/>
            <a:ext cx="47625" cy="40005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6" name="Google Shape;33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1733550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5510084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683476"/>
            <a:ext cx="762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3615381"/>
            <a:ext cx="762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 txBox="1"/>
          <p:nvPr/>
        </p:nvSpPr>
        <p:spPr>
          <a:xfrm>
            <a:off x="6667500" y="1617700"/>
            <a:ext cx="4726500" cy="4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F5D4"/>
                </a:solidFill>
                <a:latin typeface="Montserrat"/>
                <a:ea typeface="Montserrat"/>
                <a:cs typeface="Montserrat"/>
                <a:sym typeface="Montserrat"/>
              </a:rPr>
              <a:t>Real-Time UAV Intelligence Updates</a:t>
            </a:r>
            <a:endParaRPr b="1" sz="1300">
              <a:solidFill>
                <a:srgbClr val="00F5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Integrate live UAV and component information feeds from manufacturers and industry sources.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F5D4"/>
                </a:solidFill>
                <a:latin typeface="Montserrat"/>
                <a:ea typeface="Montserrat"/>
                <a:cs typeface="Montserrat"/>
                <a:sym typeface="Montserrat"/>
              </a:rPr>
              <a:t>Enhanced Machine Learning Models</a:t>
            </a:r>
            <a:endParaRPr b="1" sz="1300">
              <a:solidFill>
                <a:srgbClr val="00F5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Train larger datasets and improve recommendation accuracy using advanced ML techniques.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F5D4"/>
                </a:solidFill>
                <a:latin typeface="Montserrat"/>
                <a:ea typeface="Montserrat"/>
                <a:cs typeface="Montserrat"/>
                <a:sym typeface="Montserrat"/>
              </a:rPr>
              <a:t>Advanced Computer Vision</a:t>
            </a:r>
            <a:endParaRPr b="1" sz="1300">
              <a:solidFill>
                <a:srgbClr val="00F5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Extend image recognition capabilities to support automatic UAV model classification.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F5D4"/>
                </a:solidFill>
                <a:latin typeface="Montserrat"/>
                <a:ea typeface="Montserrat"/>
                <a:cs typeface="Montserrat"/>
                <a:sym typeface="Montserrat"/>
              </a:rPr>
              <a:t>Interactive Build Planner</a:t>
            </a:r>
            <a:endParaRPr b="1" sz="1300">
              <a:solidFill>
                <a:srgbClr val="00F5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Allow users to design complete UAV configurations with real-time compatibility and recommendation support.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F5D4"/>
                </a:solidFill>
                <a:latin typeface="Montserrat"/>
                <a:ea typeface="Montserrat"/>
                <a:cs typeface="Montserrat"/>
                <a:sym typeface="Montserrat"/>
              </a:rPr>
              <a:t>Expanded Component Ecosystem</a:t>
            </a:r>
            <a:endParaRPr b="1" sz="1300">
              <a:solidFill>
                <a:srgbClr val="00F5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Include additional UAV hardware categories, firmware repositories, and operational datasets.</a:t>
            </a:r>
            <a:endParaRPr sz="1100">
              <a:solidFill>
                <a:srgbClr val="9CA3A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1" name="Google Shape;34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7812" y="4578693"/>
            <a:ext cx="762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